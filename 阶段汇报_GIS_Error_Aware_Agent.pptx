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000">
                <a:solidFill>
                  <a:srgbClr val="FFFFFF"/>
                </a:solidFill>
              </a:defRPr>
            </a:pPr>
            <a:r>
              <a:t>GIS Error-aware Agent</a:t>
            </a:r>
          </a:p>
          <a:p>
            <a:pPr>
              <a:spcAft>
                <a:spcPts val="400"/>
              </a:spcAft>
              <a:defRPr sz="4000">
                <a:solidFill>
                  <a:srgbClr val="FFFFFF"/>
                </a:solidFill>
              </a:defRPr>
            </a:pPr>
            <a:r>
              <a:t>基准测试框架构建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AACCEE"/>
                </a:solidFill>
              </a:defRPr>
            </a:pPr>
            <a:r>
              <a:t>Benchmark 基准测试集 · Ground Truth 标准真值库 · 自动化核验 Evaluation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</a:defRPr>
            </a:pPr>
            <a:r>
              <a:t>短学期实习 · 阶段性工作汇报</a:t>
            </a:r>
          </a:p>
          <a:p>
            <a:pPr>
              <a:spcAft>
                <a:spcPts val="400"/>
              </a:spcAft>
              <a:defRPr sz="1300">
                <a:solidFill>
                  <a:srgbClr val="8899AA"/>
                </a:solidFill>
              </a:defRPr>
            </a:pPr>
            <a: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533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项目背景与研究目标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GIS Error-aware Agent 研究工作计划概述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084832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6654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Benchmark 基准测试集构建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048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任务分类 · 数据组织 · 陷阱设计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798064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7977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Ground Truth 标准真值库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1181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GT 生成流程 · 文件规范 · 量化阈值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511296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93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Evaluation Pipeline 核验引擎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3133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矢量/栅格/表格/可视化 四层比对架构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224528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GIS 错误分类体系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44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A–E 五大类 15 子类错误标签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937760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919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先导测试与验证结果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257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Pilot Test 5 任务实测数据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650992"/>
            <a:ext cx="457200" cy="457200"/>
          </a:xfrm>
          <a:prstGeom prst="ellipse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6327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3655"/>
                </a:solidFill>
              </a:defRPr>
            </a:pPr>
            <a:r>
              <a:t>阶段成果与下一步计划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97103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777777"/>
                </a:solidFill>
              </a:defRPr>
            </a:pPr>
            <a:r>
              <a:t>代码交付物 · 后续工作安排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项目背景与研究目标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基于 Curated GeoAgent Dataset 的 GIS Error-aware Agent 评测体系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▎研究背景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大语言模型驱动的 GIS 智能体在空间分析任务中存在系统性错误（CRS 不匹配、无效几何、栅格异常等）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缺乏标准化的 GIS Agent 评测基准，难以量化 Agent 的空间推理能力与错误模式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现有评测方法未覆盖"陷阱任务"——主动注入 GIS 异常的鲁棒性测试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▎核心目标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构建 40–50 条 GIS 空间分析 Benchmark 任务集，覆盖 5 大业务场景 × 3 级复杂度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建立 Ground Truth 标准真值库，提供脱离 AI 的 100% 正确参考结果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实现 Evaluation Pipeline 自动化核验引擎，完成矢量/栅格/表格/可视化四层比对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• 定义 A–E 五大类 15 子类 GIS 错误分类标签，为 Error-aware Agent 提供修复依据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Benchmark 基准测试集构建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任务二：40–50 条 GIS 空间分析任务 · 三层复杂度 · 五大场景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28016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分类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单步基础任务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 个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Level 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缓冲区、坡度计算、属性查询等单一操作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复合多步骤工作流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 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空间连接→聚合→统计等操作链组合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错误诱导陷阱任务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 个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Level 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主动注入 CRS 不匹配、无效几何、NoData 异常等扰动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3655"/>
                </a:solidFill>
              </a:defRPr>
            </a:pPr>
            <a:r>
              <a:t>▎覆盖五大业务场景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49039"/>
            <a:ext cx="2011680" cy="50292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🚗 交通空间分析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3749039"/>
            <a:ext cx="2011680" cy="50292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🏔 栅格处理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3749039"/>
            <a:ext cx="2011680" cy="50292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🔗 空间属性关联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749039"/>
            <a:ext cx="2011680" cy="50292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🕸 网络拓扑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3749039"/>
            <a:ext cx="2011680" cy="50292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🗺 综合空间决策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0392B"/>
                </a:solidFill>
              </a:defRPr>
            </a:pPr>
            <a:r>
              <a:t>▎五种陷阱注入类型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201168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CRS 不匹配</a:t>
            </a:r>
            <a:br/>
            <a:r>
              <a:t>(EPSG:4326 vs 3857)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34640" y="4937760"/>
            <a:ext cx="201168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无效自相交几何</a:t>
            </a:r>
            <a:br/>
            <a:r>
              <a:t>(蝴蝶结多边形)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937760"/>
            <a:ext cx="201168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栅格 NoData 异常</a:t>
            </a:r>
            <a:br/>
            <a:r>
              <a:t>(空值处理)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937760"/>
            <a:ext cx="201168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属性空值/</a:t>
            </a:r>
            <a:br/>
            <a:r>
              <a:t>特殊字段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4937760"/>
            <a:ext cx="2011680" cy="685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断裂路网</a:t>
            </a:r>
            <a:br/>
            <a:r>
              <a:t>(拓扑中断)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数据集组织与任务配置规范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cases.json ≡ Benchmark_Tasks.json · 标准化字段结构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011680"/>
                <a:gridCol w="649224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case_id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全局唯一编号 curated_geoagent_001 ~ 140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task_type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vector_single / raster_single / composite_workflow / 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complexity_level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int (1–3)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1=单步, 2=多流程, 3=逻辑推理 (陷阱)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交通空间分析 / 栅格处理 / 空间属性关联 / 网络拓扑 / 综合空间决策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task + output_requirements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string ×2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自然语言任务指令 + 输出约束说明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操作链: buffer / clip / dissolve / spatial_join / reproject / raster_calc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output_types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期望输出: [vector, raster, table, map]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trap_type + is_trap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string + bool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陷阱类型标记 + 预期诱发错误代码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thresholds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任务级自定义验证阈值 (容差百分比等)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Ground Truth 标准真值库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脱离 AI Agent，使用 GeoPandas / Rasterio 专业工具人工运行的 100% 正确基准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3655"/>
                </a:solidFill>
              </a:defRPr>
            </a:pPr>
            <a:r>
              <a:t>▎单任务 GT 文件规范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64592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18872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固定命名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格式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矢量标准结果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expected_vector.geojson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GeoJSON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经 make_valid() 修复的可信几何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栅格标准结果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expected_raster.tif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GeoTIFF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保持原始分辨率与范围的栅格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统计真值表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stats.csv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UTF-8 CSV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要素数/总面积/分组统计/均值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标准制图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map.png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 DPI 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含标题/指北针/比例尺/图例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验证阈值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thresholds.json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面积容差 5% / 栅格统计容差 5%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3655"/>
                </a:solidFill>
              </a:defRPr>
            </a:pPr>
            <a:r>
              <a:t>▎批量生成流程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cases.json → 解析 inputs / operations 操作链 → GeoPandas / Rasterio 执行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→ 输出到 Ground_Truth/{case_id}/  → 生成 generation_manifest.json 清单</a:t>
            </a:r>
          </a:p>
        </p:txBody>
      </p:sp>
      <p:pic>
        <p:nvPicPr>
          <p:cNvPr id="9" name="Picture 8" descr="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645920"/>
            <a:ext cx="2103120" cy="1463040"/>
          </a:xfrm>
          <a:prstGeom prst="rect">
            <a:avLst/>
          </a:prstGeom>
        </p:spPr>
      </p:pic>
      <p:pic>
        <p:nvPicPr>
          <p:cNvPr id="10" name="Picture 9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0"/>
            <a:ext cx="2103120" cy="1463040"/>
          </a:xfrm>
          <a:prstGeom prst="rect">
            <a:avLst/>
          </a:prstGeom>
        </p:spPr>
      </p:pic>
      <p:pic>
        <p:nvPicPr>
          <p:cNvPr id="11" name="Picture 10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291840"/>
            <a:ext cx="2103120" cy="1463040"/>
          </a:xfrm>
          <a:prstGeom prst="rect">
            <a:avLst/>
          </a:prstGeom>
        </p:spPr>
      </p:pic>
      <p:pic>
        <p:nvPicPr>
          <p:cNvPr id="12" name="Picture 11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0" y="3291840"/>
            <a:ext cx="2103120" cy="1463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89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777777"/>
                </a:solidFill>
              </a:defRPr>
            </a:pPr>
            <a:r>
              <a:t>GT制图示例: 道路网络 / DEM / 普查区块 / 土地利用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Evaluation Pipeline 自动化核验引擎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gis_evaluator.py — 矢量 · 栅格 · 表格 · 可视化 四层比对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371600"/>
            <a:ext cx="5486400" cy="41148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① 矢量核验 VectorVerifier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87451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文件存在性检查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CRS 一致性（不匹配时自动重投影）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几何有效性（shapely is_valid）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要素数量匹配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面积/长度相对误差（默认 5% 容差）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属性字段名称匹配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486400" cy="411480"/>
          </a:xfrm>
          <a:prstGeom prst="round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栅格核验 RasterVerifier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74519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波段数、分辨率一致性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空间范围偏差（1e-6 容差）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NoData 值定义匹配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统计指标：RMSE / MAE / R²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不对齐时自动取交集对比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4023360"/>
            <a:ext cx="5486400" cy="4114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③ 表格核验 TableVerifier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4526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CSV 列名匹配（缺失/多余检测）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行数一致性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数值列逐行比对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分组统计量偏差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NaN 一致性判断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60"/>
            <a:ext cx="5486400" cy="41148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④ 可视化核验 VisualVerifier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5262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空白输出检测（标准差 &lt; 5）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像素差异率 + 颜色直方图相关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启发性制图元素检测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交叉推理：CRS+范围 → 图层错位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</a:defRPr>
            </a:pPr>
            <a:r>
              <a:t>• 自动标记 requires_visual_check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GIS 错误分类体系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error_classifier.py — 核验失败自动映射为 A–E 五大类 15 子类错误标签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560320"/>
                <a:gridCol w="6675120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大类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子类名称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触发条件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空间参考系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CRS 不匹配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输出坐标系与 GT 不一致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空间参考系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投影转换错误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投影参数或转换过程异常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空间参考系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坐标越界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几何坐标超出有效范围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几何完整性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无效几何 / 自相交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自相交环、重复节点等无效结构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几何完整性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拓扑错误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面重叠/空隙、线未正确连接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几何完整性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几何类型不匹配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输出类型与期望不一致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属性 / 表格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字段缺失 / 不匹配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缺少必要字段或包含多余字段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属性 / 表格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属性值错误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字段值计算错误或类型不匹配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属性 / 表格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统计量偏差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分组统计/聚合超出允许误差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波段 / 分辨率不匹配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波段数或像元分辨率不一致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栅格数据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NoData 异常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NoData 定义错误或处理不当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栅格范围偏差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空间范围/原点偏移超阈值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可视化/逻辑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图层错位 / 空白输出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图层空间偏移或空白渲染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可视化/逻辑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制图元素缺失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缺少图例/比例尺/指北针/标题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可视化/逻辑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隐形逻辑错误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表面正常但深层有逻辑缺陷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评测流程与报告输出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批量评测 → 四层核验 → 错误分类 → 逐任务 JSON + 汇总 MD 双格式报告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645920" cy="1371600"/>
          </a:xfrm>
          <a:prstGeom prst="round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加载任务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cases.json</a:t>
            </a:r>
            <a:br/>
            <a:r>
              <a:t>读取全部任务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48840" y="2103120"/>
            <a:ext cx="18288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1645920"/>
            <a:ext cx="1645920" cy="1371600"/>
          </a:xfrm>
          <a:prstGeom prst="round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GT 对照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Ground_Truth/</a:t>
            </a:r>
            <a:br/>
            <a:r>
              <a:t>{case_id}/ 目录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69080" y="2103120"/>
            <a:ext cx="18288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1645920" cy="1371600"/>
          </a:xfrm>
          <a:prstGeom prst="roundRect">
            <a:avLst/>
          </a:prstGeom>
          <a:solidFill>
            <a:srgbClr val="1A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Agent 输出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agent_outputs/</a:t>
            </a:r>
            <a:br/>
            <a:r>
              <a:t>{case_id}/ 目录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9320" y="2103120"/>
            <a:ext cx="18288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1645920" cy="13716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四层核验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Vector / Raster</a:t>
            </a:r>
            <a:br/>
            <a:r>
              <a:t>Table / Visual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60" y="2103120"/>
            <a:ext cx="18288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1645920" cy="13716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错误分类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A-E 15子类</a:t>
            </a:r>
            <a:br/>
            <a:r>
              <a:t>自动标签映射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29800" y="2103120"/>
            <a:ext cx="182880" cy="228600"/>
          </a:xfrm>
          <a:prstGeom prst="rightArrow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1645920"/>
            <a:ext cx="164592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报告生成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JSON + Markdown</a:t>
            </a:r>
            <a:br/>
            <a:r>
              <a:t>逐任务 + 汇总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3655"/>
                </a:solidFill>
              </a:defRPr>
            </a:pPr>
            <a:r>
              <a:t>▎报告输出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5760" y="3749039"/>
          <a:ext cx="11430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报告文件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evaluation_summary.json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JSON 汇总：总体通过率、错误按大类/子类分布、需视觉审查任务列表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evaluation_summary.md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Markdown 格式：统计表格 + 错误分类 + 逐任务结果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{case_id}_eval_report.json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单任务完整报告：15+ 核验指标详情 + 错误标签 + 指标偏差值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888888"/>
                </a:solidFill>
              </a:defRPr>
            </a:pPr>
            <a:r>
              <a:t>评测框架自动拼合 task + output_requirements 生成 Agent 查询，评测元数据不注入 Agent 上下文。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先导测试结果 (Pilot 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5 条模板任务 · 2 类正确输出 + 3 类含错输出 · 全流程贯通验证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560320"/>
                <a:gridCol w="914400"/>
                <a:gridCol w="1371600"/>
                <a:gridCol w="137160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Case ID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任务类型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陷阱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检测到的错误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curated_geoagent_001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矢量单步 (buffer)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errors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curated_geoagent_002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栅格单步 (slope)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errors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curated_geoagent_003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复合工作流 (spatial join)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△ PARTIAL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C1 字段缺失 (population)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curated_geoagent_004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陷阱 (无效几何)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invalid_geom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△ 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C1 表格字段不匹配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curated_geoagent_005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陷阱 (CRS不匹配)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L3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crs_mismatch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△ PARTIAL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D3 栅格范围偏移 + 表格差异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3655"/>
                </a:solidFill>
              </a:defRPr>
            </a:pPr>
            <a:r>
              <a:t>▎关键验证结论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✓ 正确输出 (Task 001/002): Vector 全项通过 → 核验引擎无假阳性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✓ 字段缺失 (Task 003): C1 错误被精确检出，missing_fields = ['population']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✓ CRS 陷阱 (Task 005): 栅格范围偏移 1000m 被 D3 标签正确标记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✓ 可视化异常: Task 003 地图缺失 → requires_visual_check 自动设为 true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△ 统计表格式差异被统一归类为 C1，后续需区分表格结构与统计值偏差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阶段成果 — 代码交付物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CCEE"/>
                </a:solidFill>
              </a:defRPr>
            </a:pPr>
            <a:r>
              <a:t>14 个文件 · ~3,030 行 Python · 2 个 JSON Schema · 完整可运行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11795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822960"/>
                <a:gridCol w="6675120"/>
              </a:tblGrid>
              <a:tr h="432261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文件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行数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核心功能</a:t>
                      </a:r>
                    </a:p>
                  </a:txBody>
                  <a:tcPr>
                    <a:solidFill>
                      <a:srgbClr val="1A365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核验引擎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gis_evaluator.py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~580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Vector / Raster / Table / Visual 四层比对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错误分类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error_classifier.py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A-E 五大类 15 子类自动标签映射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GT 生成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generate_ground_truth.py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~440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批量执行操作链，输出标准化 GT 文件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批量评测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batch_evaluate.py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遍历全部任务，JSON + MD 双格式汇总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主入口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eval_curated_geoagent.py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~200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一键运行基准测试，支持 Pilot Test 模式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数据生成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generate_sample_data.py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合成道路/DEM/普查/陷阱等 GIS 测试数据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Agent模拟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generate_agent_outputs.py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~110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正确/含错模拟输出，验证评测流水线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evaluation_schema.json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报告 JSON Schema 标准化定义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Schema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cases_schema.json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~80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任务配置 JSON Schema</a:t>
                      </a:r>
                    </a:p>
                  </a:txBody>
                  <a:tcPr>
                    <a:solidFill>
                      <a:srgbClr val="D6E8F5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README.md + evaluation/README.md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~580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项目总结 + 评测模块详细文档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888888"/>
                </a:solidFill>
              </a:defRPr>
            </a:pPr>
            <a:r>
              <a:t>技术栈: Python 3.9 · GeoPandas · Rasterio · Shapely · NumPy · Pandas · Matplotlib · python-pptx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GIS Error-aware Agent · 阶段汇报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6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286000"/>
            <a:ext cx="2103120" cy="50800"/>
          </a:xfrm>
          <a:prstGeom prst="rect">
            <a:avLst/>
          </a:prstGeom>
          <a:solidFill>
            <a:srgbClr val="2B7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AACCEE"/>
                </a:solidFill>
              </a:defRPr>
            </a:pPr>
            <a:r>
              <a:t>GIS Error-aware Agent Benchmark</a:t>
            </a:r>
          </a:p>
          <a:p>
            <a:pPr>
              <a:spcAft>
                <a:spcPts val="400"/>
              </a:spcAft>
              <a:defRPr sz="1800">
                <a:solidFill>
                  <a:srgbClr val="AACCEE"/>
                </a:solidFill>
              </a:defRPr>
            </a:pPr>
            <a:r>
              <a:t>阶段工作汇报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8899AA"/>
                </a:solidFill>
              </a:defRPr>
            </a:pPr>
            <a:r>
              <a:t>欢迎提问与指导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5212</Words>
  <Application>WPS 演示</Application>
  <PresentationFormat>On-screen Show (4:3)</PresentationFormat>
  <Paragraphs>668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徐天畅</cp:lastModifiedBy>
  <cp:revision>2</cp:revision>
  <dcterms:created xsi:type="dcterms:W3CDTF">2013-01-27T09:14:00Z</dcterms:created>
  <dcterms:modified xsi:type="dcterms:W3CDTF">2026-07-15T14:34:51Z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924B8592610B4085869609EF982A77ED_12</vt:lpwstr>
  </property>
  <property fmtid="{D5CDD505-2E9C-101B-9397-08002B2CF9AE}" pid="3" name="KSOProductBuildVer">
    <vt:lpwstr>2052-12.1.0.21541</vt:lpwstr>
  </property>
</Properties>
</file>